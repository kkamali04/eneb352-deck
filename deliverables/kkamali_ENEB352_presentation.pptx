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2286000"/>
            <a:ext cx="6400800" cy="1371600"/>
          </a:xfrm>
          <a:prstGeom prst="rect">
            <a:avLst/>
          </a:prstGeom>
          <a:noFill/>
        </p:spPr>
        <p:txBody>
          <a:bodyPr wrap="square">
            <a:spAutoFit/>
          </a:bodyPr>
          <a:lstStyle/>
          <a:p>
            <a:pPr algn="l">
              <a:defRPr sz="5400" b="1">
                <a:solidFill>
                  <a:srgbClr val="FCEEE6"/>
                </a:solidFill>
              </a:defRPr>
            </a:pPr>
            <a:r>
              <a:t>How CDNs Make the Web Fast</a:t>
            </a:r>
          </a:p>
        </p:txBody>
      </p:sp>
      <p:sp>
        <p:nvSpPr>
          <p:cNvPr id="3" name="TextBox 2"/>
          <p:cNvSpPr txBox="1"/>
          <p:nvPr/>
        </p:nvSpPr>
        <p:spPr>
          <a:xfrm>
            <a:off x="731520" y="3840480"/>
            <a:ext cx="6400800" cy="914400"/>
          </a:xfrm>
          <a:prstGeom prst="rect">
            <a:avLst/>
          </a:prstGeom>
          <a:noFill/>
        </p:spPr>
        <p:txBody>
          <a:bodyPr wrap="square">
            <a:spAutoFit/>
          </a:bodyPr>
          <a:lstStyle/>
          <a:p>
            <a:pPr algn="l">
              <a:defRPr sz="1800" b="0">
                <a:solidFill>
                  <a:srgbClr val="9B8090"/>
                </a:solidFill>
              </a:defRPr>
            </a:pPr>
            <a:r>
              <a:t>From 200ms round-trips to 20ms edge responses. The engineering behind global content delivery.</a:t>
            </a:r>
          </a:p>
        </p:txBody>
      </p:sp>
      <p:sp>
        <p:nvSpPr>
          <p:cNvPr id="4" name="TextBox 3"/>
          <p:cNvSpPr txBox="1"/>
          <p:nvPr/>
        </p:nvSpPr>
        <p:spPr>
          <a:xfrm>
            <a:off x="731520" y="5029200"/>
            <a:ext cx="6400800" cy="457200"/>
          </a:xfrm>
          <a:prstGeom prst="rect">
            <a:avLst/>
          </a:prstGeom>
          <a:noFill/>
        </p:spPr>
        <p:txBody>
          <a:bodyPr wrap="square">
            <a:spAutoFit/>
          </a:bodyPr>
          <a:lstStyle/>
          <a:p>
            <a:pPr algn="l">
              <a:defRPr sz="1200" b="0">
                <a:solidFill>
                  <a:srgbClr val="E8A04E"/>
                </a:solidFill>
              </a:defRPr>
            </a:pPr>
            <a:r>
              <a:t>ENEB352 - Final Research Presentation - Spring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01. The Problem</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The Internet Wasn't Built for Distance</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When a user in Tokyo requests a website hosted in Virginia, the packet travels approximately 11,000 kilometers through fiber optic cables. At two-thirds the speed of light, that is a 70ms one-way trip, 140ms round-trip.</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Add TCP three-way handshake (1 RTT, as covered in our TCP lab), TLS negotiation (1-2 RTTs), server processing, and database queries, and you are looking at 300-500ms before the browser receives the first byte.</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2000" b="1">
                <a:solidFill>
                  <a:srgbClr val="FF7A66"/>
                </a:solidFill>
              </a:defRPr>
            </a:pPr>
            <a:r>
              <a:t>200ms RTT Cross-continent  |  20ms RTT Local edge  |  90% Traffic Offloaded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02. Protocols Involved</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A Stack of Protocols</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CDNs orchestrate multiple networking protocols across the OSI stack. At the network and transport layers, we have IP Anycast, BGP for routing, TCP with BBR congestion control, and UDP for QUIC.</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At the application layer, DNS resolves names to IPs, HTTP delivers content, and TLS encrypts everything. As we studied in Kurose and Ross Chapter 2, these protocols work together to deliver web content efficiently.</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400" b="0">
                <a:solidFill>
                  <a:srgbClr val="FFC9A0"/>
                </a:solidFill>
              </a:defRPr>
            </a:pPr>
            <a:r>
              <a:t>Protocols: DNS, Anycast, BGP, TCP, TLS 1.3, HTTP/1.1, HTTP/2, HTTP/3 (QUIC), 802.11 WiFi, IPv4/IPv6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03. DNS &amp; Anycast</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Finding the Nearest Server</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When you type example.com, DNS does not return one IP. CDNs use GeoDNS or Anycast to direct you to the nearest Point of Presence.</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Anycast means hundreds of servers share the same IP. BGP routing directs your packet to the closest server based on network topology. If a PoP fails, traffic reroutes automatically.</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400" b="0">
                <a:solidFill>
                  <a:srgbClr val="E8A04E"/>
                </a:solidFill>
              </a:defRPr>
            </a:pPr>
            <a:r>
              <a:t>Cloudflare: 300+ PoPs  |  Akamai: 4,000+ edges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04. HTTP Evolution</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HTTP/1 -&gt; HTTP/2 -&gt; HTTP/3</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HTTP/1.1 (1997): 6 connection limit, head-of-line blocking</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HTTP/2 (2015): Multiplexing over TCP, but still blocked at transport layer</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1">
                <a:solidFill>
                  <a:srgbClr val="FF7A66"/>
                </a:solidFill>
              </a:defRPr>
            </a:pPr>
            <a:r>
              <a:t>HTTP/3 (RFC 9114): QUIC over UDP, independent streams, 0-RTT resumption</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600" b="0">
                <a:solidFill>
                  <a:srgbClr val="FFC9A0"/>
                </a:solidFill>
              </a:defRPr>
            </a:pPr>
            <a:r>
              <a:t>HTTP/3 cuts page load times by 30-50% on mobile/lossy networks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05. TLS 1.3</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Zero Round-Trip Time</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TLS 1.3 (RFC 8446) reduces handshake from 2 RTTs to 1 RTT for new connections, and 0-RTT for returning visitors.</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On repeat visits, the client sends encrypted data in the very first packet. No handshake needed. For a cached resource at the edge, this means instant delivery.</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800" b="1">
                <a:solidFill>
                  <a:srgbClr val="FF7A66"/>
                </a:solidFill>
              </a:defRPr>
            </a:pPr>
            <a:r>
              <a:t>TLS 1.2: 2 RTT  |  TLS 1.3: 1 RTT  |  TLS 1.3 + 0-RTT: 0 RTT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06. Cache Architecture</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The Three-Layer Cache Hierarchy</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1">
                <a:solidFill>
                  <a:srgbClr val="FCEEE6"/>
                </a:solidFill>
              </a:defRPr>
            </a:pPr>
            <a:r>
              <a:t>EDGE: Closest to users. Serves 80-95% of requests. Cache TTL: minutes to hours.</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1">
                <a:solidFill>
                  <a:srgbClr val="FCEEE6"/>
                </a:solidFill>
              </a:defRPr>
            </a:pPr>
            <a:r>
              <a:t>REGIONAL: Shared across edge nodes. Handles cache misses. Reduces origin load.</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1">
                <a:solidFill>
                  <a:srgbClr val="FCEEE6"/>
                </a:solidFill>
              </a:defRPr>
            </a:pPr>
            <a:r>
              <a:t>ORIGIN: Your actual server. Only hit on true cache misses. Protected by origin shield.</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600" b="0">
                <a:solidFill>
                  <a:srgbClr val="9B8090"/>
                </a:solidFill>
              </a:defRPr>
            </a:pPr>
            <a:r>
              <a:t>This tiered design, similar to the DNS hierarchy we analyzed in class, means your origin sees only 5-20% of total traffic.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07. Cache Control</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Cache Headers Control Everything</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Cache-Control: max-age - How long the CDN can serve without checking origin. Static assets: 1 year. HTML: 5-60 min.</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s-maxage vs max-age: s-maxage controls CDN caching; max-age controls browser caching.</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0">
                <a:solidFill>
                  <a:srgbClr val="FF7A66"/>
                </a:solidFill>
              </a:defRPr>
            </a:pPr>
            <a:r>
              <a:t>stale-while-revalidate: Serve stale content while fetching fresh in background. Users never wait.</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300" b="0">
                <a:solidFill>
                  <a:srgbClr val="FFC9A0"/>
                </a:solidFill>
              </a:defRPr>
            </a:pPr>
            <a:r>
              <a:t>Cache-Control: public, max-age=31536000, s-maxage=86400, stale-while-revalidate=3600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08. Cache Invalidation</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The Hardest Problem in CS</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1. Purge API: Call the CDN API to invalidate specific URLs instantly. Cloudflare propagates purges across all PoPs in approximately 30 seconds.</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2. Cache Busting: Add content hash to filenames: app.abc123.js. Instant invalidation, no purge needed.</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0">
                <a:solidFill>
                  <a:srgbClr val="FCEEE6"/>
                </a:solidFill>
              </a:defRPr>
            </a:pPr>
            <a:r>
              <a:t>3. Surrogate Keys: Tag content with keys. Purge by key to invalidate thousands of URLs at once. Fastly pioneered this.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09. Case Study: Cloudflare</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The Network is the Computer</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Cloudflare operates 300+ Points of Presence across 100+ countries, processing 55 million HTTP requests per second. They handle approximately 25% of all web traffic.</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800" b="1">
                <a:solidFill>
                  <a:srgbClr val="FF7A66"/>
                </a:solidFill>
              </a:defRPr>
            </a:pPr>
            <a:r>
              <a:t>Key Innovations:</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400" b="0">
                <a:solidFill>
                  <a:srgbClr val="FCEEE6"/>
                </a:solidFill>
              </a:defRPr>
            </a:pPr>
            <a:r>
              <a:t>Workers: V8 isolates running at every edge location. Deploy JavaScript globally in 30 seconds. No cold starts.</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400" b="0">
                <a:solidFill>
                  <a:srgbClr val="FCEEE6"/>
                </a:solidFill>
              </a:defRPr>
            </a:pPr>
            <a:r>
              <a:t>R2 Storage: S3-compatible object storage with zero egress fees.</a:t>
            </a:r>
          </a:p>
        </p:txBody>
      </p:sp>
      <p:sp>
        <p:nvSpPr>
          <p:cNvPr id="8" name="TextBox 7"/>
          <p:cNvSpPr txBox="1"/>
          <p:nvPr/>
        </p:nvSpPr>
        <p:spPr>
          <a:xfrm>
            <a:off x="731520" y="4754879"/>
            <a:ext cx="10058400" cy="1371600"/>
          </a:xfrm>
          <a:prstGeom prst="rect">
            <a:avLst/>
          </a:prstGeom>
          <a:noFill/>
        </p:spPr>
        <p:txBody>
          <a:bodyPr wrap="square">
            <a:spAutoFit/>
          </a:bodyPr>
          <a:lstStyle/>
          <a:p>
            <a:pPr algn="l">
              <a:defRPr sz="1400" b="0">
                <a:solidFill>
                  <a:srgbClr val="FCEEE6"/>
                </a:solidFill>
              </a:defRPr>
            </a:pPr>
            <a:r>
              <a:t>DDoS Mitigation: Mitigated the largest attack ever: 71 million requests per second in February 2023.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10. Case Study: Competition</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Akamai &amp; Fastly</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Akamai: 4,000+ edge locations. Enterprise and media streaming focus. Clients: Apple, Adobe, Airbnb.</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Fastly: 100+ locations. Real-time config propagation in 150ms. Clients: GitHub, Stripe, Spotify.</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0">
                <a:solidFill>
                  <a:srgbClr val="FCEEE6"/>
                </a:solidFill>
              </a:defRPr>
            </a:pPr>
            <a:r>
              <a:t>AWS CloudFront: 450+ locations. Deep AWS integration. Clients: Slack, Hulu, NASA.</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600" b="0">
                <a:solidFill>
                  <a:srgbClr val="9B8090"/>
                </a:solidFill>
              </a:defRPr>
            </a:pPr>
            <a:r>
              <a:t>Each provider serves different use cases: Akamai for media, Fastly for real-time config, CloudFront for AWS integration, Cloudflare for developer experience.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11. Trade-offs</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Latency vs Cost vs Complexity</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Latency Win: CDNs cut latency from 200ms to 20ms, a 10x improvement. But edge compute adds cost per request.</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Cost Trade-off: Origin bandwidth drops 80-95%, but CDN egress fees apply. At 90% cache hit ratio, you save approximately $80/TB.</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0">
                <a:solidFill>
                  <a:srgbClr val="FCEEE6"/>
                </a:solidFill>
              </a:defRPr>
            </a:pPr>
            <a:r>
              <a:t>Complexity Tax: Cache invalidation, SSL certificate management, and vendor-specific APIs add operational overhead.</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600" b="0">
                <a:solidFill>
                  <a:srgbClr val="FFC9A0"/>
                </a:solidFill>
              </a:defRPr>
            </a:pPr>
            <a:r>
              <a:t>Power &amp; Energy: Edge servers consume power 24/7. A global CDN uses megawatts of electricity. However, reduced origin load and shorter transmission distances can lower overall network energy consumption.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12. More Trade-offs</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Cache Invalidation Hell</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600" b="0">
                <a:solidFill>
                  <a:srgbClr val="FCEEE6"/>
                </a:solidFill>
              </a:defRPr>
            </a:pPr>
            <a:r>
              <a:t>Thundering Herd: When cache expires, thousands of requests simultaneously hit the origin. Solution: origin shield + stale-while-revalidate.</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SSL Termination: CDNs decrypt TLS at the edge. However, end-to-end encryption to origin is available (Cloudflare Full Strict, CloudFront Origin SSL). Without it, data travels in plaintext inside the CDN backbone.</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0">
                <a:solidFill>
                  <a:srgbClr val="FCEEE6"/>
                </a:solidFill>
              </a:defRPr>
            </a:pPr>
            <a:r>
              <a:t>Vendor Lock-in: Edge compute is vendor-specific. Migrating means rewriting edge logic. Multi-CDN reduces risk.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13. Improvement: Edge Compute</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Code at the Edge</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800" b="1">
                <a:solidFill>
                  <a:srgbClr val="FF7A66"/>
                </a:solidFill>
              </a:defRPr>
            </a:pPr>
            <a:r>
              <a:t>I would implement edge compute for dynamic content. Instead of routing every request to origin, run lightweight logic at the edge.</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Cloudflare Workers (V8 isolates) and Fastly Compute (WebAssembly) both enable this architecture.</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400" b="0">
                <a:solidFill>
                  <a:srgbClr val="9B8090"/>
                </a:solidFill>
              </a:defRPr>
            </a:pPr>
            <a:r>
              <a:t>Traditional: User -&gt; CDN -&gt; Origin -&gt; Database -&gt; Origin -&gt; CDN -&gt; User (200-500ms)</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400" b="0">
                <a:solidFill>
                  <a:srgbClr val="FFC9A0"/>
                </a:solidFill>
              </a:defRPr>
            </a:pPr>
            <a:r>
              <a:t>Edge-First: User -&gt; Edge Worker -&gt; D1/KV -&gt; User (5-20ms)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14. Improvement: HTTP/3</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HTTP/3 Adoption is Critical</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800" b="1">
                <a:solidFill>
                  <a:srgbClr val="FF7A66"/>
                </a:solidFill>
              </a:defRPr>
            </a:pPr>
            <a:r>
              <a:t>I would enable HTTP/3 immediately on all CDN properties. As of 2026, approximately 35% of web traffic uses HTTP/3.</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The holdouts are enterprise firewalls that block UDP and legacy load balancers.</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0">
                <a:solidFill>
                  <a:srgbClr val="FCEEE6"/>
                </a:solidFill>
              </a:defRPr>
            </a:pPr>
            <a:r>
              <a:t>HTTP/3 shines on mobile networks where packet loss is common. On a 3% packet loss connection, HTTP/3 loads pages 2x faster than HTTP/2.</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800" b="1">
                <a:solidFill>
                  <a:srgbClr val="E8A04E"/>
                </a:solidFill>
              </a:defRPr>
            </a:pPr>
            <a:r>
              <a:t>35% of web on HTTP/3  |  2x faster on lossy networks  |  0 RTT with resumption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15. Improvement: Smarter Caching</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Smarter Cache Prediction</a:t>
            </a:r>
          </a:p>
        </p:txBody>
      </p:sp>
      <p:sp>
        <p:nvSpPr>
          <p:cNvPr id="4" name="TextBox 3"/>
          <p:cNvSpPr txBox="1"/>
          <p:nvPr/>
        </p:nvSpPr>
        <p:spPr>
          <a:xfrm>
            <a:off x="731520" y="1828800"/>
            <a:ext cx="10058400" cy="1371600"/>
          </a:xfrm>
          <a:prstGeom prst="rect">
            <a:avLst/>
          </a:prstGeom>
          <a:noFill/>
        </p:spPr>
        <p:txBody>
          <a:bodyPr wrap="square">
            <a:spAutoFit/>
          </a:bodyPr>
          <a:lstStyle/>
          <a:p>
            <a:pPr algn="l">
              <a:defRPr sz="1800" b="1">
                <a:solidFill>
                  <a:srgbClr val="FF7A66"/>
                </a:solidFill>
              </a:defRPr>
            </a:pPr>
            <a:r>
              <a:t>I would invest in ML-driven prefetching. The next frontier is not just caching, but intelligent content distribution that anticipates demand before it happens.</a:t>
            </a:r>
          </a:p>
        </p:txBody>
      </p:sp>
      <p:sp>
        <p:nvSpPr>
          <p:cNvPr id="5" name="TextBox 4"/>
          <p:cNvSpPr txBox="1"/>
          <p:nvPr/>
        </p:nvSpPr>
        <p:spPr>
          <a:xfrm>
            <a:off x="731520" y="2560320"/>
            <a:ext cx="10058400" cy="1371600"/>
          </a:xfrm>
          <a:prstGeom prst="rect">
            <a:avLst/>
          </a:prstGeom>
          <a:noFill/>
        </p:spPr>
        <p:txBody>
          <a:bodyPr wrap="square">
            <a:spAutoFit/>
          </a:bodyPr>
          <a:lstStyle/>
          <a:p>
            <a:pPr algn="l">
              <a:defRPr sz="1600" b="0">
                <a:solidFill>
                  <a:srgbClr val="FCEEE6"/>
                </a:solidFill>
              </a:defRPr>
            </a:pPr>
            <a:r>
              <a:t>ML-Driven Prefetch: Use machine learning to predict what users will request next. Prefetch to edge before they ask. Netflix uses this for thumbnails.</a:t>
            </a:r>
          </a:p>
        </p:txBody>
      </p:sp>
      <p:sp>
        <p:nvSpPr>
          <p:cNvPr id="6" name="TextBox 5"/>
          <p:cNvSpPr txBox="1"/>
          <p:nvPr/>
        </p:nvSpPr>
        <p:spPr>
          <a:xfrm>
            <a:off x="731520" y="3291839"/>
            <a:ext cx="10058400" cy="1371600"/>
          </a:xfrm>
          <a:prstGeom prst="rect">
            <a:avLst/>
          </a:prstGeom>
          <a:noFill/>
        </p:spPr>
        <p:txBody>
          <a:bodyPr wrap="square">
            <a:spAutoFit/>
          </a:bodyPr>
          <a:lstStyle/>
          <a:p>
            <a:pPr algn="l">
              <a:defRPr sz="1600" b="0">
                <a:solidFill>
                  <a:srgbClr val="FCEEE6"/>
                </a:solidFill>
              </a:defRPr>
            </a:pPr>
            <a:r>
              <a:t>Tiered TTL: Hot content gets short TTL for freshness. Cold content gets long TTL for efficiency. Dynamically adjusted.</a:t>
            </a:r>
          </a:p>
        </p:txBody>
      </p:sp>
      <p:sp>
        <p:nvSpPr>
          <p:cNvPr id="7" name="TextBox 6"/>
          <p:cNvSpPr txBox="1"/>
          <p:nvPr/>
        </p:nvSpPr>
        <p:spPr>
          <a:xfrm>
            <a:off x="731520" y="4023359"/>
            <a:ext cx="10058400" cy="1371600"/>
          </a:xfrm>
          <a:prstGeom prst="rect">
            <a:avLst/>
          </a:prstGeom>
          <a:noFill/>
        </p:spPr>
        <p:txBody>
          <a:bodyPr wrap="square">
            <a:spAutoFit/>
          </a:bodyPr>
          <a:lstStyle/>
          <a:p>
            <a:pPr algn="l">
              <a:defRPr sz="1600" b="0">
                <a:solidFill>
                  <a:srgbClr val="FCEEE6"/>
                </a:solidFill>
              </a:defRPr>
            </a:pPr>
            <a:r>
              <a:t>Real-time Purge: WebSocket-based invalidation. When origin updates, push purge events to all edge nodes instantly.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100" b="0">
                <a:solidFill>
                  <a:srgbClr val="E8A04E"/>
                </a:solidFill>
              </a:defRPr>
            </a:pPr>
            <a:r>
              <a:t>References</a:t>
            </a:r>
          </a:p>
        </p:txBody>
      </p:sp>
      <p:sp>
        <p:nvSpPr>
          <p:cNvPr id="3" name="TextBox 2"/>
          <p:cNvSpPr txBox="1"/>
          <p:nvPr/>
        </p:nvSpPr>
        <p:spPr>
          <a:xfrm>
            <a:off x="731520" y="822960"/>
            <a:ext cx="10058400" cy="914400"/>
          </a:xfrm>
          <a:prstGeom prst="rect">
            <a:avLst/>
          </a:prstGeom>
          <a:noFill/>
        </p:spPr>
        <p:txBody>
          <a:bodyPr wrap="square">
            <a:spAutoFit/>
          </a:bodyPr>
          <a:lstStyle/>
          <a:p>
            <a:pPr algn="l">
              <a:defRPr sz="4000" b="1">
                <a:solidFill>
                  <a:srgbClr val="FF7A66"/>
                </a:solidFill>
              </a:defRPr>
            </a:pPr>
            <a:r>
              <a:t>APA References</a:t>
            </a:r>
          </a:p>
        </p:txBody>
      </p:sp>
      <p:sp>
        <p:nvSpPr>
          <p:cNvPr id="4" name="TextBox 3"/>
          <p:cNvSpPr txBox="1"/>
          <p:nvPr/>
        </p:nvSpPr>
        <p:spPr>
          <a:xfrm>
            <a:off x="731520" y="1828800"/>
            <a:ext cx="10515600" cy="457200"/>
          </a:xfrm>
          <a:prstGeom prst="rect">
            <a:avLst/>
          </a:prstGeom>
          <a:noFill/>
        </p:spPr>
        <p:txBody>
          <a:bodyPr wrap="square">
            <a:spAutoFit/>
          </a:bodyPr>
          <a:lstStyle/>
          <a:p>
            <a:pPr algn="l">
              <a:defRPr sz="1100" b="0">
                <a:solidFill>
                  <a:srgbClr val="9B8090"/>
                </a:solidFill>
              </a:defRPr>
            </a:pPr>
            <a:r>
              <a:t>Cloudflare. (2024). How does a CDN work? Cloudflare Learning Center. https://www.cloudflare.com/learning/cdn/what-is-a-cdn/</a:t>
            </a:r>
          </a:p>
        </p:txBody>
      </p:sp>
      <p:sp>
        <p:nvSpPr>
          <p:cNvPr id="5" name="TextBox 4"/>
          <p:cNvSpPr txBox="1"/>
          <p:nvPr/>
        </p:nvSpPr>
        <p:spPr>
          <a:xfrm>
            <a:off x="731520" y="2240280"/>
            <a:ext cx="10515600" cy="457200"/>
          </a:xfrm>
          <a:prstGeom prst="rect">
            <a:avLst/>
          </a:prstGeom>
          <a:noFill/>
        </p:spPr>
        <p:txBody>
          <a:bodyPr wrap="square">
            <a:spAutoFit/>
          </a:bodyPr>
          <a:lstStyle/>
          <a:p>
            <a:pPr algn="l">
              <a:defRPr sz="1100" b="0">
                <a:solidFill>
                  <a:srgbClr val="9B8090"/>
                </a:solidFill>
              </a:defRPr>
            </a:pPr>
            <a:r>
              <a:t>Fielding, R., &amp; Reschke, J. (2014). Hypertext Transfer Protocol (HTTP/1.1): Conditional Requests (RFC 7232). IETF.</a:t>
            </a:r>
          </a:p>
        </p:txBody>
      </p:sp>
      <p:sp>
        <p:nvSpPr>
          <p:cNvPr id="6" name="TextBox 5"/>
          <p:cNvSpPr txBox="1"/>
          <p:nvPr/>
        </p:nvSpPr>
        <p:spPr>
          <a:xfrm>
            <a:off x="731520" y="2651760"/>
            <a:ext cx="10515600" cy="457200"/>
          </a:xfrm>
          <a:prstGeom prst="rect">
            <a:avLst/>
          </a:prstGeom>
          <a:noFill/>
        </p:spPr>
        <p:txBody>
          <a:bodyPr wrap="square">
            <a:spAutoFit/>
          </a:bodyPr>
          <a:lstStyle/>
          <a:p>
            <a:pPr algn="l">
              <a:defRPr sz="1100" b="0">
                <a:solidFill>
                  <a:srgbClr val="9B8090"/>
                </a:solidFill>
              </a:defRPr>
            </a:pPr>
            <a:r>
              <a:t>Kurose, J. F., &amp; Ross, K. W. (2021). Computer networking: A top-down approach (8th ed.). Pearson.</a:t>
            </a:r>
          </a:p>
        </p:txBody>
      </p:sp>
      <p:sp>
        <p:nvSpPr>
          <p:cNvPr id="7" name="TextBox 6"/>
          <p:cNvSpPr txBox="1"/>
          <p:nvPr/>
        </p:nvSpPr>
        <p:spPr>
          <a:xfrm>
            <a:off x="731520" y="3063240"/>
            <a:ext cx="10515600" cy="457200"/>
          </a:xfrm>
          <a:prstGeom prst="rect">
            <a:avLst/>
          </a:prstGeom>
          <a:noFill/>
        </p:spPr>
        <p:txBody>
          <a:bodyPr wrap="square">
            <a:spAutoFit/>
          </a:bodyPr>
          <a:lstStyle/>
          <a:p>
            <a:pPr algn="l">
              <a:defRPr sz="1100" b="0">
                <a:solidFill>
                  <a:srgbClr val="9B8090"/>
                </a:solidFill>
              </a:defRPr>
            </a:pPr>
            <a:r>
              <a:t>Mozilla. (2024). HTTP caching. MDN Web Docs. https://developer.mozilla.org/en-US/docs/Web/HTTP/Caching</a:t>
            </a:r>
          </a:p>
        </p:txBody>
      </p:sp>
      <p:sp>
        <p:nvSpPr>
          <p:cNvPr id="8" name="TextBox 7"/>
          <p:cNvSpPr txBox="1"/>
          <p:nvPr/>
        </p:nvSpPr>
        <p:spPr>
          <a:xfrm>
            <a:off x="731520" y="3474720"/>
            <a:ext cx="10515600" cy="457200"/>
          </a:xfrm>
          <a:prstGeom prst="rect">
            <a:avLst/>
          </a:prstGeom>
          <a:noFill/>
        </p:spPr>
        <p:txBody>
          <a:bodyPr wrap="square">
            <a:spAutoFit/>
          </a:bodyPr>
          <a:lstStyle/>
          <a:p>
            <a:pPr algn="l">
              <a:defRPr sz="1100" b="0">
                <a:solidFill>
                  <a:srgbClr val="9B8090"/>
                </a:solidFill>
              </a:defRPr>
            </a:pPr>
            <a:r>
              <a:t>Rescorla, E. (2018). The Transport Layer Security (TLS) Protocol Version 1.3 (RFC 8446). IETF.</a:t>
            </a:r>
          </a:p>
        </p:txBody>
      </p:sp>
      <p:sp>
        <p:nvSpPr>
          <p:cNvPr id="9" name="TextBox 8"/>
          <p:cNvSpPr txBox="1"/>
          <p:nvPr/>
        </p:nvSpPr>
        <p:spPr>
          <a:xfrm>
            <a:off x="731520" y="3886200"/>
            <a:ext cx="10515600" cy="457200"/>
          </a:xfrm>
          <a:prstGeom prst="rect">
            <a:avLst/>
          </a:prstGeom>
          <a:noFill/>
        </p:spPr>
        <p:txBody>
          <a:bodyPr wrap="square">
            <a:spAutoFit/>
          </a:bodyPr>
          <a:lstStyle/>
          <a:p>
            <a:pPr algn="l">
              <a:defRPr sz="1100" b="0">
                <a:solidFill>
                  <a:srgbClr val="9B8090"/>
                </a:solidFill>
              </a:defRPr>
            </a:pPr>
            <a:r>
              <a:t>Iyengar, J., &amp; Thomson, M. (2021). QUIC: A UDP-Based Multiplexed and Secure Transport (RFC 9000). IETF.</a:t>
            </a:r>
          </a:p>
        </p:txBody>
      </p:sp>
      <p:sp>
        <p:nvSpPr>
          <p:cNvPr id="10" name="TextBox 9"/>
          <p:cNvSpPr txBox="1"/>
          <p:nvPr/>
        </p:nvSpPr>
        <p:spPr>
          <a:xfrm>
            <a:off x="731520" y="4297680"/>
            <a:ext cx="10515600" cy="457200"/>
          </a:xfrm>
          <a:prstGeom prst="rect">
            <a:avLst/>
          </a:prstGeom>
          <a:noFill/>
        </p:spPr>
        <p:txBody>
          <a:bodyPr wrap="square">
            <a:spAutoFit/>
          </a:bodyPr>
          <a:lstStyle/>
          <a:p>
            <a:pPr algn="l">
              <a:defRPr sz="1100" b="0">
                <a:solidFill>
                  <a:srgbClr val="9B8090"/>
                </a:solidFill>
              </a:defRPr>
            </a:pPr>
            <a:r>
              <a:t>Bishop, M. (2022). HTTP/3 (RFC 9114). IETF.</a:t>
            </a:r>
          </a:p>
        </p:txBody>
      </p:sp>
      <p:sp>
        <p:nvSpPr>
          <p:cNvPr id="11" name="TextBox 10"/>
          <p:cNvSpPr txBox="1"/>
          <p:nvPr/>
        </p:nvSpPr>
        <p:spPr>
          <a:xfrm>
            <a:off x="731520" y="4709160"/>
            <a:ext cx="10515600" cy="457200"/>
          </a:xfrm>
          <a:prstGeom prst="rect">
            <a:avLst/>
          </a:prstGeom>
          <a:noFill/>
        </p:spPr>
        <p:txBody>
          <a:bodyPr wrap="square">
            <a:spAutoFit/>
          </a:bodyPr>
          <a:lstStyle/>
          <a:p>
            <a:pPr algn="l">
              <a:defRPr sz="1100" b="0">
                <a:solidFill>
                  <a:srgbClr val="9B8090"/>
                </a:solidFill>
              </a:defRPr>
            </a:pPr>
            <a:r>
              <a:t>IETF. (2022). Transmission Control Protocol (TCP) (RFC 9293). IETF.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0E1F"/>
        </a:solidFill>
        <a:effectLst/>
      </p:bgPr>
    </p:bg>
    <p:spTree>
      <p:nvGrpSpPr>
        <p:cNvPr id="1" name=""/>
        <p:cNvGrpSpPr/>
        <p:nvPr/>
      </p:nvGrpSpPr>
      <p:grpSpPr/>
      <p:sp>
        <p:nvSpPr>
          <p:cNvPr id="2" name="TextBox 1"/>
          <p:cNvSpPr txBox="1"/>
          <p:nvPr/>
        </p:nvSpPr>
        <p:spPr>
          <a:xfrm>
            <a:off x="0" y="2286000"/>
            <a:ext cx="12191695" cy="1371600"/>
          </a:xfrm>
          <a:prstGeom prst="rect">
            <a:avLst/>
          </a:prstGeom>
          <a:noFill/>
        </p:spPr>
        <p:txBody>
          <a:bodyPr wrap="square">
            <a:spAutoFit/>
          </a:bodyPr>
          <a:lstStyle/>
          <a:p>
            <a:pPr algn="ctr">
              <a:defRPr sz="6000" b="1">
                <a:solidFill>
                  <a:srgbClr val="FCEEE6"/>
                </a:solidFill>
              </a:defRPr>
            </a:pPr>
            <a:r>
              <a:t>Questions &amp; Answers</a:t>
            </a:r>
          </a:p>
        </p:txBody>
      </p:sp>
      <p:sp>
        <p:nvSpPr>
          <p:cNvPr id="3" name="TextBox 2"/>
          <p:cNvSpPr txBox="1"/>
          <p:nvPr/>
        </p:nvSpPr>
        <p:spPr>
          <a:xfrm>
            <a:off x="0" y="3840480"/>
            <a:ext cx="12191695" cy="914400"/>
          </a:xfrm>
          <a:prstGeom prst="rect">
            <a:avLst/>
          </a:prstGeom>
          <a:noFill/>
        </p:spPr>
        <p:txBody>
          <a:bodyPr wrap="square">
            <a:spAutoFit/>
          </a:bodyPr>
          <a:lstStyle/>
          <a:p>
            <a:pPr algn="ctr">
              <a:defRPr sz="2400" b="0">
                <a:solidFill>
                  <a:srgbClr val="FF7A66"/>
                </a:solidFill>
              </a:defRPr>
            </a:pPr>
            <a:r>
              <a:t>Kian Kamali</a:t>
            </a:r>
          </a:p>
        </p:txBody>
      </p:sp>
      <p:sp>
        <p:nvSpPr>
          <p:cNvPr id="4" name="TextBox 3"/>
          <p:cNvSpPr txBox="1"/>
          <p:nvPr/>
        </p:nvSpPr>
        <p:spPr>
          <a:xfrm>
            <a:off x="0" y="4389120"/>
            <a:ext cx="12191695" cy="731520"/>
          </a:xfrm>
          <a:prstGeom prst="rect">
            <a:avLst/>
          </a:prstGeom>
          <a:noFill/>
        </p:spPr>
        <p:txBody>
          <a:bodyPr wrap="square">
            <a:spAutoFit/>
          </a:bodyPr>
          <a:lstStyle/>
          <a:p>
            <a:pPr algn="ctr">
              <a:defRPr sz="1600" b="0">
                <a:solidFill>
                  <a:srgbClr val="9B8090"/>
                </a:solidFill>
              </a:defRPr>
            </a:pPr>
            <a:r>
              <a:t>ENEB352 - Introduction to Networks and Protocols</a:t>
            </a:r>
          </a:p>
        </p:txBody>
      </p:sp>
      <p:sp>
        <p:nvSpPr>
          <p:cNvPr id="5" name="TextBox 4"/>
          <p:cNvSpPr txBox="1"/>
          <p:nvPr/>
        </p:nvSpPr>
        <p:spPr>
          <a:xfrm>
            <a:off x="0" y="4937760"/>
            <a:ext cx="12191695" cy="457200"/>
          </a:xfrm>
          <a:prstGeom prst="rect">
            <a:avLst/>
          </a:prstGeom>
          <a:noFill/>
        </p:spPr>
        <p:txBody>
          <a:bodyPr wrap="square">
            <a:spAutoFit/>
          </a:bodyPr>
          <a:lstStyle/>
          <a:p>
            <a:pPr algn="ctr">
              <a:defRPr sz="1400" b="0">
                <a:solidFill>
                  <a:srgbClr val="9B8090"/>
                </a:solidFill>
              </a:defRPr>
            </a:pPr>
            <a:r>
              <a:t>University of Maryland, Spring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